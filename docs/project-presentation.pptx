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Quattrocen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QuattrocentoSans-regular.fntdata"/><Relationship Id="rId16" Type="http://schemas.openxmlformats.org/officeDocument/2006/relationships/font" Target="fonts/Roboto-boldItalic.fntdata"/><Relationship Id="rId5" Type="http://schemas.openxmlformats.org/officeDocument/2006/relationships/slide" Target="slides/slide1.xml"/><Relationship Id="rId19" Type="http://schemas.openxmlformats.org/officeDocument/2006/relationships/font" Target="fonts/QuattrocentoSans-italic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f85e2e4d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4f85e2e4d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f85e2e4d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f85e2e4d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EADA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IITD_pptslide_jpeg-03.jp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72917" r="0" t="69259"/>
          <a:stretch/>
        </p:blipFill>
        <p:spPr>
          <a:xfrm>
            <a:off x="7286625" y="3562350"/>
            <a:ext cx="1857374" cy="158115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Quattrocento Sans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9F7F6"/>
              </a:buClr>
              <a:buSzPts val="1800"/>
              <a:buNone/>
              <a:defRPr sz="18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11480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685800" y="2317221"/>
            <a:ext cx="777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401088"/>
            <a:ext cx="2260623" cy="124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33845" y="1035887"/>
            <a:ext cx="78867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idx="1" type="body"/>
          </p:nvPr>
        </p:nvSpPr>
        <p:spPr>
          <a:xfrm>
            <a:off x="633845" y="1035886"/>
            <a:ext cx="3867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1" name="Google Shape;31;p4"/>
          <p:cNvSpPr txBox="1"/>
          <p:nvPr>
            <p:ph idx="2" type="body"/>
          </p:nvPr>
        </p:nvSpPr>
        <p:spPr>
          <a:xfrm>
            <a:off x="633845" y="1655160"/>
            <a:ext cx="38670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3" type="body"/>
          </p:nvPr>
        </p:nvSpPr>
        <p:spPr>
          <a:xfrm>
            <a:off x="4629150" y="1035887"/>
            <a:ext cx="3886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3" name="Google Shape;33;p4"/>
          <p:cNvSpPr txBox="1"/>
          <p:nvPr>
            <p:ph idx="4" type="body"/>
          </p:nvPr>
        </p:nvSpPr>
        <p:spPr>
          <a:xfrm>
            <a:off x="4629150" y="1655160"/>
            <a:ext cx="38862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38" name="Google Shape;38;p4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/>
          <p:nvPr>
            <p:ph type="title"/>
          </p:nvPr>
        </p:nvSpPr>
        <p:spPr>
          <a:xfrm>
            <a:off x="623888" y="1284317"/>
            <a:ext cx="7886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500"/>
              <a:buFont typeface="Quattrocento Sans"/>
              <a:buNone/>
              <a:defRPr b="0"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623888" y="3414475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idx="1" type="body"/>
          </p:nvPr>
        </p:nvSpPr>
        <p:spPr>
          <a:xfrm>
            <a:off x="633845" y="1035887"/>
            <a:ext cx="3886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4629150" y="1035887"/>
            <a:ext cx="3886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>
            <p:ph type="title"/>
          </p:nvPr>
        </p:nvSpPr>
        <p:spPr>
          <a:xfrm>
            <a:off x="630936" y="342900"/>
            <a:ext cx="2948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⚫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⚫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⚫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630936" y="1543049"/>
            <a:ext cx="29487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/>
          <p:nvPr>
            <p:ph type="title"/>
          </p:nvPr>
        </p:nvSpPr>
        <p:spPr>
          <a:xfrm>
            <a:off x="630936" y="342900"/>
            <a:ext cx="2948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630936" y="1543050"/>
            <a:ext cx="29487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2777496" y="-1107763"/>
            <a:ext cx="3599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96" name="Google Shape;96;p11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 rot="5400000">
            <a:off x="5350050" y="1463972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" type="body"/>
          </p:nvPr>
        </p:nvSpPr>
        <p:spPr>
          <a:xfrm rot="5400000">
            <a:off x="1349475" y="-450628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6543675" y="277589"/>
            <a:ext cx="0" cy="435480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85799" y="1035886"/>
            <a:ext cx="3834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2" type="body"/>
          </p:nvPr>
        </p:nvSpPr>
        <p:spPr>
          <a:xfrm>
            <a:off x="4683577" y="1035886"/>
            <a:ext cx="38289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13" name="Google Shape;113;p1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685799" y="946718"/>
            <a:ext cx="3815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685799" y="1616168"/>
            <a:ext cx="38151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4672693" y="946716"/>
            <a:ext cx="3828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4672693" y="1616168"/>
            <a:ext cx="38289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25" name="Google Shape;125;p14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33" name="Google Shape;133;p1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⚫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⚫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⚫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9pPr>
          </a:lstStyle>
          <a:p/>
        </p:txBody>
      </p:sp>
      <p:sp>
        <p:nvSpPr>
          <p:cNvPr id="138" name="Google Shape;138;p16"/>
          <p:cNvSpPr txBox="1"/>
          <p:nvPr>
            <p:ph idx="2" type="body"/>
          </p:nvPr>
        </p:nvSpPr>
        <p:spPr>
          <a:xfrm>
            <a:off x="630936" y="1643745"/>
            <a:ext cx="29487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39" name="Google Shape;13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6"/>
          <p:cNvSpPr txBox="1"/>
          <p:nvPr>
            <p:ph type="title"/>
          </p:nvPr>
        </p:nvSpPr>
        <p:spPr>
          <a:xfrm>
            <a:off x="630936" y="342900"/>
            <a:ext cx="29487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43" name="Google Shape;143;p16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>
            <p:ph idx="2" type="pic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630936" y="1643745"/>
            <a:ext cx="29487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630936" y="342900"/>
            <a:ext cx="29487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53" name="Google Shape;153;p17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Vertical Text">
  <p:cSld name="1_Title and Vertical 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>
            <p:ph idx="1" type="body"/>
          </p:nvPr>
        </p:nvSpPr>
        <p:spPr>
          <a:xfrm rot="5400000">
            <a:off x="2786946" y="-1122314"/>
            <a:ext cx="3575400" cy="7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62" name="Google Shape;162;p18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33845" y="27432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300"/>
              <a:buFont typeface="Quattrocento Sans"/>
              <a:buNone/>
              <a:defRPr b="0" i="0" sz="3300" u="none" cap="none" strike="noStrik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845" y="137160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1ehVYu4hhWtZGsGzRXoY7nijwAUgEnoQ/view" TargetMode="External"/><Relationship Id="rId4" Type="http://schemas.openxmlformats.org/officeDocument/2006/relationships/image" Target="../media/image5.jp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np3AjBuKwRhxGYVZ128ZrvL4qvjzKy8U/view" TargetMode="External"/><Relationship Id="rId5" Type="http://schemas.openxmlformats.org/officeDocument/2006/relationships/image" Target="../media/image7.jp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idx="1" type="subTitle"/>
          </p:nvPr>
        </p:nvSpPr>
        <p:spPr>
          <a:xfrm>
            <a:off x="4312400" y="2330133"/>
            <a:ext cx="4343400" cy="15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Akshat Gupta, Abbas, Anand Raj, Aniket Tripathi, Avnish Raj, Bhawna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Group no. - 13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IIS-end sem project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" name="Google Shape;169;p19"/>
          <p:cNvSpPr txBox="1"/>
          <p:nvPr>
            <p:ph type="ctrTitle"/>
          </p:nvPr>
        </p:nvSpPr>
        <p:spPr>
          <a:xfrm>
            <a:off x="342900" y="747300"/>
            <a:ext cx="84582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Georgia"/>
                <a:ea typeface="Georgia"/>
                <a:cs typeface="Georgia"/>
                <a:sym typeface="Georgia"/>
              </a:rPr>
              <a:t>Medicare - Health Assistant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Project Overview and Objectives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633850" y="1077275"/>
            <a:ext cx="79626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➢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Project Overview:</a:t>
            </a:r>
            <a:br>
              <a:rPr b="1"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This project aims to develop an intelligent healthcare chatbot that can interact with patients in a natural, conversational manner. The chatbot is designed to gather essential medical information, identify user intent, and assist in the preliminary screening process. It serves as a digital assistant for healthcare providers, streamlining patient intake and enhancing accessibility.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➢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Objectives: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2921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❏"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Automated Patient Interaction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❏"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Intent Recognition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❏"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Symptom Collection and Preliminary Triage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❏"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Data Storage and Retrieval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❏"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User-Friendly Interface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❏"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Scalability and Integration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System Architecture and Integration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633850" y="1035875"/>
            <a:ext cx="79626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Overview of Architecture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(Yet to be implemented)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Python-based message routing, intent recognition, and business logic.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Data Storage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MongoDB for storing patient data(demographic, medical, login), doctors data(name, medical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license, speciality, etc.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), admin(login data).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Speech Integration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Whisper for speech recognition, gTTS for text-to-speech, pygame for playing audio.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Multilingual Support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Using googletrans for translation, while keeping track of current language.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Integration Flow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All components run as a single local script. Speech/text input → processed by NLP modules → output generated and optionally spoken.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User inputs (speech/text) → Translate to English → Intent detection &amp; entity extraction → Response Generation →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Output (text + speech)</a:t>
            </a:r>
            <a:endParaRPr b="1"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Testing and Evaluation of Features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633850" y="1035875"/>
            <a:ext cx="79626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❖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Miscommunication Recovery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➢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Politely asks users to rephrase or clarify vague queries.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➢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Resets conversation context if user or bot gets stuck.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❖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Real-time Error Handling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➢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Provides alternative options or clickable suggestions to reduce ambiguity.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➢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Uses dynamic fallbacks to handle unclear or multi-intent queries.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700" y="1954449"/>
            <a:ext cx="3633099" cy="130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 rotWithShape="1">
          <a:blip r:embed="rId4">
            <a:alphaModFix/>
          </a:blip>
          <a:srcRect b="0" l="0" r="27672" t="39613"/>
          <a:stretch/>
        </p:blipFill>
        <p:spPr>
          <a:xfrm>
            <a:off x="4874925" y="1799188"/>
            <a:ext cx="3503200" cy="169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400"/>
              <a:t>Demo Simulation of Patient Interaction</a:t>
            </a:r>
            <a:endParaRPr sz="2400"/>
          </a:p>
        </p:txBody>
      </p:sp>
      <p:sp>
        <p:nvSpPr>
          <p:cNvPr id="198" name="Google Shape;198;p23"/>
          <p:cNvSpPr txBox="1"/>
          <p:nvPr>
            <p:ph idx="1" type="body"/>
          </p:nvPr>
        </p:nvSpPr>
        <p:spPr>
          <a:xfrm>
            <a:off x="633850" y="1035875"/>
            <a:ext cx="79626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❖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Scenario 1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: A patient (use any name) interacts with the chatbot using speech/text to report symptoms. The chatbot processes the input and generates a summary report.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" name="Google Shape;200;p23" title="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850" y="1584575"/>
            <a:ext cx="3956051" cy="2943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/>
          <p:cNvPicPr preferRelativeResize="0"/>
          <p:nvPr/>
        </p:nvPicPr>
        <p:blipFill rotWithShape="1">
          <a:blip r:embed="rId5">
            <a:alphaModFix/>
          </a:blip>
          <a:srcRect b="24322" l="0" r="0" t="0"/>
          <a:stretch/>
        </p:blipFill>
        <p:spPr>
          <a:xfrm>
            <a:off x="4869875" y="1726900"/>
            <a:ext cx="3999900" cy="265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2400"/>
              <a:t>Demo Simulation of Patient Interaction</a:t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633845" y="1035887"/>
            <a:ext cx="78867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❖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Scenario 2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: The chatbot switches between English and Hindi as per the user's language preference during symptom intake.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9" name="Google Shape;209;p24"/>
          <p:cNvPicPr preferRelativeResize="0"/>
          <p:nvPr/>
        </p:nvPicPr>
        <p:blipFill rotWithShape="1">
          <a:blip r:embed="rId3">
            <a:alphaModFix/>
          </a:blip>
          <a:srcRect b="0" l="0" r="30104" t="0"/>
          <a:stretch/>
        </p:blipFill>
        <p:spPr>
          <a:xfrm>
            <a:off x="927863" y="1665225"/>
            <a:ext cx="7298678" cy="314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and Login Systems</a:t>
            </a:r>
            <a:endParaRPr/>
          </a:p>
        </p:txBody>
      </p:sp>
      <p:sp>
        <p:nvSpPr>
          <p:cNvPr id="215" name="Google Shape;215;p2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050" y="931775"/>
            <a:ext cx="4359974" cy="2114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5" title="Login system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700" y="3134300"/>
            <a:ext cx="3036600" cy="195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2600" y="1012724"/>
            <a:ext cx="4243176" cy="33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300"/>
              <a:t>Conclusion, Results &amp; Future Improvements</a:t>
            </a:r>
            <a:endParaRPr sz="2300"/>
          </a:p>
        </p:txBody>
      </p:sp>
      <p:sp>
        <p:nvSpPr>
          <p:cNvPr id="224" name="Google Shape;224;p26"/>
          <p:cNvSpPr txBox="1"/>
          <p:nvPr>
            <p:ph idx="1" type="body"/>
          </p:nvPr>
        </p:nvSpPr>
        <p:spPr>
          <a:xfrm>
            <a:off x="633850" y="1035875"/>
            <a:ext cx="79626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❖"/>
            </a:pPr>
            <a:r>
              <a:rPr b="1"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Challenges &amp; Learnings:</a:t>
            </a:r>
            <a:endParaRPr b="1" sz="13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Coordination and Communication - Learned Team Collaboration Skills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Efficiently merging Code</a:t>
            </a:r>
            <a:endParaRPr b="1" sz="13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➢"/>
            </a:pPr>
            <a:r>
              <a:rPr b="1"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Integrating the LLM model (Mistral-7B, in our case) </a:t>
            </a:r>
            <a:endParaRPr b="1" sz="13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➢"/>
            </a:pPr>
            <a:r>
              <a:rPr b="1"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Ethical and Practical Constraints in Healthcare</a:t>
            </a:r>
            <a:endParaRPr b="1" sz="13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➢"/>
            </a:pPr>
            <a:r>
              <a:rPr b="1"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Debugging\Testing and Project Planning</a:t>
            </a:r>
            <a:endParaRPr b="1" sz="13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❖"/>
            </a:pPr>
            <a:r>
              <a:rPr b="1"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Future Improvements :</a:t>
            </a:r>
            <a:endParaRPr b="1" sz="13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➢"/>
            </a:pPr>
            <a:r>
              <a:rPr b="1"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Make a good Front-end interface for better user experience.</a:t>
            </a:r>
            <a:endParaRPr b="1" sz="13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➢"/>
            </a:pPr>
            <a:r>
              <a:rPr b="1"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Make the Assistant more versatile in tasks relating to the healthcare domain, like also acting like a receptionist, and more robustness &amp; efficiency in dealing with patients.</a:t>
            </a:r>
            <a:endParaRPr b="1" sz="13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